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e7cedced624003" /><Relationship Type="http://schemas.openxmlformats.org/officeDocument/2006/relationships/extended-properties" Target="/docProps/app.xml" Id="R9eb02010341e472c" /><Relationship Type="http://schemas.openxmlformats.org/officeDocument/2006/relationships/officeDocument" Target="/ppt/presentation.xml" Id="R5a36d2fcf94a4d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2275cbce3d46d1"/>
  </p:sldMasterIdLst>
  <p:notesMasterIdLst>
    <p:notesMasterId xmlns:r="http://schemas.openxmlformats.org/officeDocument/2006/relationships" r:id="R1ab973d6652546e5"/>
  </p:notesMasterIdLst>
  <p:sldIdLst>
    <p:sldId xmlns:r="http://schemas.openxmlformats.org/officeDocument/2006/relationships" id="256" r:id="R166bc3713f7f4353"/>
    <p:sldId xmlns:r="http://schemas.openxmlformats.org/officeDocument/2006/relationships" id="257" r:id="R3c307959287149e7"/>
    <p:sldId xmlns:r="http://schemas.openxmlformats.org/officeDocument/2006/relationships" id="258" r:id="Rb7855c82a5b9483d"/>
    <p:sldId xmlns:r="http://schemas.openxmlformats.org/officeDocument/2006/relationships" id="259" r:id="R4d76b138f0a242a8"/>
    <p:sldId xmlns:r="http://schemas.openxmlformats.org/officeDocument/2006/relationships" id="260" r:id="Rf424e66a166e4701"/>
    <p:sldId xmlns:r="http://schemas.openxmlformats.org/officeDocument/2006/relationships" id="261" r:id="R676ea9d2584948e3"/>
    <p:sldId xmlns:r="http://schemas.openxmlformats.org/officeDocument/2006/relationships" id="262" r:id="Ra433d208ba804201"/>
    <p:sldId xmlns:r="http://schemas.openxmlformats.org/officeDocument/2006/relationships" id="263" r:id="R30bfa375988d44e6"/>
    <p:sldId xmlns:r="http://schemas.openxmlformats.org/officeDocument/2006/relationships" id="264" r:id="R66899a7f81eb4cd4"/>
    <p:sldId xmlns:r="http://schemas.openxmlformats.org/officeDocument/2006/relationships" id="265" r:id="R08c6e108c8f144a0"/>
    <p:sldId xmlns:r="http://schemas.openxmlformats.org/officeDocument/2006/relationships" id="266" r:id="Rc44dd4a041d14531"/>
    <p:sldId xmlns:r="http://schemas.openxmlformats.org/officeDocument/2006/relationships" id="267" r:id="Rf83d6a7e69a845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4b94226e884de5" /><Relationship Type="http://schemas.openxmlformats.org/officeDocument/2006/relationships/slideMaster" Target="/ppt/slideMasters/slideMaster1.xml" Id="Rb02275cbce3d46d1" /><Relationship Type="http://schemas.openxmlformats.org/officeDocument/2006/relationships/notesMaster" Target="/ppt/notesMasters/notesMaster1.xml" Id="R1ab973d6652546e5" /><Relationship Type="http://schemas.openxmlformats.org/officeDocument/2006/relationships/presProps" Target="/ppt/presProps.xml" Id="R6fb556e905b24376" /><Relationship Type="http://schemas.openxmlformats.org/officeDocument/2006/relationships/viewProps" Target="/ppt/viewProps.xml" Id="Rd0c4e9aab2f9455f" /><Relationship Type="http://schemas.openxmlformats.org/officeDocument/2006/relationships/tableStyles" Target="/ppt/tableStyles.xml" Id="Rcda3455bf8aa4de2" /><Relationship Type="http://schemas.openxmlformats.org/officeDocument/2006/relationships/slide" Target="/ppt/slides/slide1.xml" Id="R166bc3713f7f4353" /><Relationship Type="http://schemas.openxmlformats.org/officeDocument/2006/relationships/slide" Target="/ppt/slides/slide2.xml" Id="R3c307959287149e7" /><Relationship Type="http://schemas.openxmlformats.org/officeDocument/2006/relationships/slide" Target="/ppt/slides/slide3.xml" Id="Rb7855c82a5b9483d" /><Relationship Type="http://schemas.openxmlformats.org/officeDocument/2006/relationships/slide" Target="/ppt/slides/slide4.xml" Id="R4d76b138f0a242a8" /><Relationship Type="http://schemas.openxmlformats.org/officeDocument/2006/relationships/slide" Target="/ppt/slides/slide5.xml" Id="Rf424e66a166e4701" /><Relationship Type="http://schemas.openxmlformats.org/officeDocument/2006/relationships/slide" Target="/ppt/slides/slide6.xml" Id="R676ea9d2584948e3" /><Relationship Type="http://schemas.openxmlformats.org/officeDocument/2006/relationships/slide" Target="/ppt/slides/slide7.xml" Id="Ra433d208ba804201" /><Relationship Type="http://schemas.openxmlformats.org/officeDocument/2006/relationships/slide" Target="/ppt/slides/slide8.xml" Id="R30bfa375988d44e6" /><Relationship Type="http://schemas.openxmlformats.org/officeDocument/2006/relationships/slide" Target="/ppt/slides/slide9.xml" Id="R66899a7f81eb4cd4" /><Relationship Type="http://schemas.openxmlformats.org/officeDocument/2006/relationships/slide" Target="/ppt/slides/slide10.xml" Id="R08c6e108c8f144a0" /><Relationship Type="http://schemas.openxmlformats.org/officeDocument/2006/relationships/slide" Target="/ppt/slides/slide11.xml" Id="Rc44dd4a041d14531" /><Relationship Type="http://schemas.openxmlformats.org/officeDocument/2006/relationships/slide" Target="/ppt/slides/slide12.xml" Id="Rf83d6a7e69a845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1e1a3042e84a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ode_coach">
  <a:themeElements>
    <a:clrScheme name="code_coach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_coa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eb48aee3974b9c" /><Relationship Type="http://schemas.openxmlformats.org/officeDocument/2006/relationships/notesMaster" Target="/ppt/notesMasters/notesMaster1.xml" Id="R853fdc965a4e44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65dc6f7a434ea9" /><Relationship Type="http://schemas.openxmlformats.org/officeDocument/2006/relationships/notesMaster" Target="/ppt/notesMasters/notesMaster1.xml" Id="Re7e45599bb3449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4de16118954ea1" /><Relationship Type="http://schemas.openxmlformats.org/officeDocument/2006/relationships/notesMaster" Target="/ppt/notesMasters/notesMaster1.xml" Id="Rb08af5cbf71c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6b9ed340714f60" /><Relationship Type="http://schemas.openxmlformats.org/officeDocument/2006/relationships/notesMaster" Target="/ppt/notesMasters/notesMaster1.xml" Id="Rb9a94a3c13da4e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69edf0da054552" /><Relationship Type="http://schemas.openxmlformats.org/officeDocument/2006/relationships/notesMaster" Target="/ppt/notesMasters/notesMaster1.xml" Id="R6c1bd0ef9a154f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0fe64910534163" /><Relationship Type="http://schemas.openxmlformats.org/officeDocument/2006/relationships/notesMaster" Target="/ppt/notesMasters/notesMaster1.xml" Id="R1f063f89aec446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85e200b6614ab8" /><Relationship Type="http://schemas.openxmlformats.org/officeDocument/2006/relationships/notesMaster" Target="/ppt/notesMasters/notesMaster1.xml" Id="R237a88a5eea84a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6bb439283543ad" /><Relationship Type="http://schemas.openxmlformats.org/officeDocument/2006/relationships/notesMaster" Target="/ppt/notesMasters/notesMaster1.xml" Id="Rdd46c3a3acb349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1f670af0204db6" /><Relationship Type="http://schemas.openxmlformats.org/officeDocument/2006/relationships/notesMaster" Target="/ppt/notesMasters/notesMaster1.xml" Id="Rf077b0be4c4b40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7e075a3a0341a2" /><Relationship Type="http://schemas.openxmlformats.org/officeDocument/2006/relationships/notesMaster" Target="/ppt/notesMasters/notesMaster1.xml" Id="R8407519a003e4e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d9ea4c42944732" /><Relationship Type="http://schemas.openxmlformats.org/officeDocument/2006/relationships/notesMaster" Target="/ppt/notesMasters/notesMaster1.xml" Id="Rd25271d1ce0949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8e183b547e4d27" /><Relationship Type="http://schemas.openxmlformats.org/officeDocument/2006/relationships/notesMaster" Target="/ppt/notesMasters/notesMaster1.xml" Id="R487eea6031b8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054a65e9647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8bef93e0ec45cd" /><Relationship Type="http://schemas.openxmlformats.org/officeDocument/2006/relationships/slideLayout" Target="/ppt/slideLayouts/slideLayout1.xml" Id="Rfb0c89986e04452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0c89986e0445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ode_coach">
  <a:themeElements>
    <a:clrScheme name="code_coach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_coa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446c758334ef2" /><Relationship Type="http://schemas.openxmlformats.org/officeDocument/2006/relationships/notesSlide" Target="/ppt/notesSlides/notesSlide1.xml" Id="Rda9bf4c5f11b40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873aed4db4f6f" /><Relationship Type="http://schemas.openxmlformats.org/officeDocument/2006/relationships/notesSlide" Target="/ppt/notesSlides/notesSlide2.xml" Id="Rc4e5c49be03744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8fff1e92b43ce" /><Relationship Type="http://schemas.openxmlformats.org/officeDocument/2006/relationships/notesSlide" Target="/ppt/notesSlides/notesSlide3.xml" Id="R7ee1fb771d654d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30a3408af40cd" /><Relationship Type="http://schemas.openxmlformats.org/officeDocument/2006/relationships/notesSlide" Target="/ppt/notesSlides/notesSlide4.xml" Id="Rafdf4cb5632147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0b3d4daef4782" /><Relationship Type="http://schemas.openxmlformats.org/officeDocument/2006/relationships/notesSlide" Target="/ppt/notesSlides/notesSlide5.xml" Id="R9514d98782db4d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84654e4ba48b2" /><Relationship Type="http://schemas.openxmlformats.org/officeDocument/2006/relationships/notesSlide" Target="/ppt/notesSlides/notesSlide6.xml" Id="R013a751a8b5b42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c7b60920d4615" /><Relationship Type="http://schemas.openxmlformats.org/officeDocument/2006/relationships/image" Target="/ppt/media/image.png" Id="R8d92e20eb8e74b12" /><Relationship Type="http://schemas.openxmlformats.org/officeDocument/2006/relationships/notesSlide" Target="/ppt/notesSlides/notesSlide7.xml" Id="Rb3764f0427894d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35eb18bef43e9" /><Relationship Type="http://schemas.openxmlformats.org/officeDocument/2006/relationships/notesSlide" Target="/ppt/notesSlides/notesSlide8.xml" Id="R551e510fe4c640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ac6a7e199412a" /><Relationship Type="http://schemas.openxmlformats.org/officeDocument/2006/relationships/notesSlide" Target="/ppt/notesSlides/notesSlide9.xml" Id="Rd929aaf2abcc48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17233e35044f9" /><Relationship Type="http://schemas.openxmlformats.org/officeDocument/2006/relationships/notesSlide" Target="/ppt/notesSlides/notesSlide10.xml" Id="Rb5219370d35143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63917b0554c68" /><Relationship Type="http://schemas.openxmlformats.org/officeDocument/2006/relationships/notesSlide" Target="/ppt/notesSlides/notesSlide11.xml" Id="Re6936b1b41e24e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fe72e83634e45" /><Relationship Type="http://schemas.openxmlformats.org/officeDocument/2006/relationships/notesSlide" Target="/ppt/notesSlides/notesSlide12.xml" Id="R70e5c18edb2948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323F5D7-239C-44FA-BE5D-9D8ED7AD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AI 原生代码学习系统 · 2410311404-code-coach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4723FDF-5B0C-4FC8-9C6D-F6D6733E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code_coach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E7D8614-277E-452F-BFFB-5FE9DF50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让确定性诊断负责事实，让 AI 负责解释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面向从 C++ 过渡到 Python 的学生</a:t>
            </a:r>
          </a:p>
        </p:txBody>
      </p:sp>
      <p:sp>
        <p:nvSpPr>
          <p:cNvPr id="4" name="cover-mark">
            <a:extLst xmlns:a="http://schemas.openxmlformats.org/drawingml/2006/main">
              <a:ext uri="{FF2B5EF4-FFF2-40B4-BE49-F238E27FC236}">
                <a16:creationId xmlns:a16="http://schemas.microsoft.com/office/drawing/2014/main" id="{FA81EF1A-797B-482C-A5CA-0A50D45D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005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E90E022E-ABF6-4D81-A6D3-18ECD087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8160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57943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2">
            <a:extLst xmlns:a="http://schemas.openxmlformats.org/drawingml/2006/main">
              <a:ext uri="{FF2B5EF4-FFF2-40B4-BE49-F238E27FC236}">
                <a16:creationId xmlns:a16="http://schemas.microsoft.com/office/drawing/2014/main" id="{53E6E441-D017-4355-944E-5C541DA4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学生需要的是可验证的学习闭环，而不是一次性答案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15F414F0-CE73-4EE2-B7AF-DB69EAB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" name="problem-context">
            <a:extLst xmlns:a="http://schemas.openxmlformats.org/drawingml/2006/main">
              <a:ext uri="{FF2B5EF4-FFF2-40B4-BE49-F238E27FC236}">
                <a16:creationId xmlns:a16="http://schemas.microsoft.com/office/drawing/2014/main" id="{775E43CE-9268-4DBA-A33D-8812671E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C++ 学习者进入 Python 时，既要看懂编译器或 AST 给出的事实，也要理解两种语言的概念差异，并确认修改是否真正解决问题。</a:t>
            </a:r>
          </a:p>
        </p:txBody>
      </p:sp>
      <p:sp>
        <p:nvSpPr>
          <p:cNvPr id="4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24BD9BB6-2C4E-4E64-AED9-5BE069AE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in-accent">
            <a:extLst xmlns:a="http://schemas.openxmlformats.org/drawingml/2006/main">
              <a:ext uri="{FF2B5EF4-FFF2-40B4-BE49-F238E27FC236}">
                <a16:creationId xmlns:a16="http://schemas.microsoft.com/office/drawing/2014/main" id="{051BF442-FDBE-431C-8966-30C6742A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in-heading">
            <a:extLst xmlns:a="http://schemas.openxmlformats.org/drawingml/2006/main">
              <a:ext uri="{FF2B5EF4-FFF2-40B4-BE49-F238E27FC236}">
                <a16:creationId xmlns:a16="http://schemas.microsoft.com/office/drawing/2014/main" id="{C4E2C81E-A067-40E1-B601-D5C52EC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事实</a:t>
            </a:r>
          </a:p>
        </p:txBody>
      </p:sp>
      <p:sp>
        <p:nvSpPr>
          <p:cNvPr id="7" name="pain-body">
            <a:extLst xmlns:a="http://schemas.openxmlformats.org/drawingml/2006/main">
              <a:ext uri="{FF2B5EF4-FFF2-40B4-BE49-F238E27FC236}">
                <a16:creationId xmlns:a16="http://schemas.microsoft.com/office/drawing/2014/main" id="{42093F4B-A40D-42F3-8DF9-F5B6A12A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95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自动识别语言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静态问题、位置与严重程度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相同输入得到稳定分数</a:t>
            </a:r>
          </a:p>
        </p:txBody>
      </p:sp>
      <p:sp>
        <p:nvSpPr>
          <p:cNvPr id="8" name="teach-surface">
            <a:extLst xmlns:a="http://schemas.openxmlformats.org/drawingml/2006/main">
              <a:ext uri="{FF2B5EF4-FFF2-40B4-BE49-F238E27FC236}">
                <a16:creationId xmlns:a16="http://schemas.microsoft.com/office/drawing/2014/main" id="{80DB09BF-EDB2-4682-9AA9-6A07666F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ach-accent">
            <a:extLst xmlns:a="http://schemas.openxmlformats.org/drawingml/2006/main">
              <a:ext uri="{FF2B5EF4-FFF2-40B4-BE49-F238E27FC236}">
                <a16:creationId xmlns:a16="http://schemas.microsoft.com/office/drawing/2014/main" id="{E980BCC8-9C52-4CC0-AAD9-7A09E891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ach-heading">
            <a:extLst xmlns:a="http://schemas.openxmlformats.org/drawingml/2006/main">
              <a:ext uri="{FF2B5EF4-FFF2-40B4-BE49-F238E27FC236}">
                <a16:creationId xmlns:a16="http://schemas.microsoft.com/office/drawing/2014/main" id="{25B8C059-13C0-4C28-A9A7-32627F79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教学</a:t>
            </a:r>
          </a:p>
        </p:txBody>
      </p:sp>
      <p:sp>
        <p:nvSpPr>
          <p:cNvPr id="11" name="teach-body">
            <a:extLst xmlns:a="http://schemas.openxmlformats.org/drawingml/2006/main">
              <a:ext uri="{FF2B5EF4-FFF2-40B4-BE49-F238E27FC236}">
                <a16:creationId xmlns:a16="http://schemas.microsoft.com/office/drawing/2014/main" id="{CD2EAA43-A580-4AB2-BBCD-2462CAB4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295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AI 解释修复顺序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建立 C++ / Python 概念映射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给出可练习的小任务</a:t>
            </a:r>
          </a:p>
        </p:txBody>
      </p:sp>
      <p:sp>
        <p:nvSpPr>
          <p:cNvPr id="12" name="verify-surface">
            <a:extLst xmlns:a="http://schemas.openxmlformats.org/drawingml/2006/main">
              <a:ext uri="{FF2B5EF4-FFF2-40B4-BE49-F238E27FC236}">
                <a16:creationId xmlns:a16="http://schemas.microsoft.com/office/drawing/2014/main" id="{D0F8819A-223E-4E1B-801F-CF6B91BD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ify-accent">
            <a:extLst xmlns:a="http://schemas.openxmlformats.org/drawingml/2006/main">
              <a:ext uri="{FF2B5EF4-FFF2-40B4-BE49-F238E27FC236}">
                <a16:creationId xmlns:a16="http://schemas.microsoft.com/office/drawing/2014/main" id="{02A4FAA4-C388-4BC4-A322-AF92C193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erify-heading">
            <a:extLst xmlns:a="http://schemas.openxmlformats.org/drawingml/2006/main">
              <a:ext uri="{FF2B5EF4-FFF2-40B4-BE49-F238E27FC236}">
                <a16:creationId xmlns:a16="http://schemas.microsoft.com/office/drawing/2014/main" id="{73465C57-FE16-44F6-B6E0-A11E9AF9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051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15" name="verify-body">
            <a:extLst xmlns:a="http://schemas.openxmlformats.org/drawingml/2006/main">
              <a:ext uri="{FF2B5EF4-FFF2-40B4-BE49-F238E27FC236}">
                <a16:creationId xmlns:a16="http://schemas.microsoft.com/office/drawing/2014/main" id="{7C965738-616A-4DBF-8133-9FA2E673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295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提交修改版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区分已解决、仍存在和新增问题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导出 Markdown 学习报告</a:t>
            </a:r>
          </a:p>
        </p:txBody>
      </p:sp>
    </p:spTree>
    <p:extLst>
      <p:ext uri="{BB962C8B-B14F-4D97-AF65-F5344CB8AC3E}">
        <p14:creationId xmlns:p14="http://schemas.microsoft.com/office/powerpoint/2010/main" val="388530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69BF88D3-AE7B-4BA1-8D01-1F0D28C9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一次操作贯穿输入、解释和修改验证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E30DF90D-5170-484F-84AA-E009D234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cxnSp>
        <p:nvCxnSpPr>
          <p:cNvPr id="32" name="flow-line-1"/>
          <p:cNvCxnSpPr/>
          <p:nvPr/>
        </p:nvCxnSpPr>
        <p:spPr>
          <a:xfrm xmlns:a="http://schemas.openxmlformats.org/drawingml/2006/main">
            <a:off x="2628900" y="32004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3" name="flow-line-2"/>
          <p:cNvCxnSpPr/>
          <p:nvPr/>
        </p:nvCxnSpPr>
        <p:spPr>
          <a:xfrm xmlns:a="http://schemas.openxmlformats.org/drawingml/2006/main">
            <a:off x="6572250" y="32004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flow-card-1">
            <a:extLst xmlns:a="http://schemas.openxmlformats.org/drawingml/2006/main">
              <a:ext uri="{FF2B5EF4-FFF2-40B4-BE49-F238E27FC236}">
                <a16:creationId xmlns:a16="http://schemas.microsoft.com/office/drawing/2014/main" id="{987E9A6F-CD50-446A-AE72-D6B489E5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9146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card-2">
            <a:extLst xmlns:a="http://schemas.openxmlformats.org/drawingml/2006/main">
              <a:ext uri="{FF2B5EF4-FFF2-40B4-BE49-F238E27FC236}">
                <a16:creationId xmlns:a16="http://schemas.microsoft.com/office/drawing/2014/main" id="{79B31360-EFEE-42CC-9715-CDA878D7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38350"/>
            <a:ext cx="29146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E7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card-3">
            <a:extLst xmlns:a="http://schemas.openxmlformats.org/drawingml/2006/main">
              <a:ext uri="{FF2B5EF4-FFF2-40B4-BE49-F238E27FC236}">
                <a16:creationId xmlns:a16="http://schemas.microsoft.com/office/drawing/2014/main" id="{E1D87B52-0009-4889-9B01-9EADCF1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9146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AC538154-2F8C-4698-AEA9-3F362756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46994833-E995-4C57-8E04-7849C662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粘贴代码</a:t>
            </a:r>
          </a:p>
        </p:txBody>
      </p:sp>
      <p:sp>
        <p:nvSpPr>
          <p:cNvPr id="10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B4C8839-92BF-445A-B4A2-25127762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无需手动选择语言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系统给出识别结果、置信度和依据</a:t>
            </a:r>
          </a:p>
        </p:txBody>
      </p:sp>
      <p:sp>
        <p:nvSpPr>
          <p:cNvPr id="11" name="step-num-1">
            <a:extLst xmlns:a="http://schemas.openxmlformats.org/drawingml/2006/main">
              <a:ext uri="{FF2B5EF4-FFF2-40B4-BE49-F238E27FC236}">
                <a16:creationId xmlns:a16="http://schemas.microsoft.com/office/drawing/2014/main" id="{A5AE81B6-04A6-41AB-BF40-BEAE97E0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70B9C0B3-57A7-473D-91D3-EBDC02DF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9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获得反馈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2630318-042A-455D-9388-BCDA3E6E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3855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确定性问题与分数先返回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AI 教练随后解释迁移知识</a:t>
            </a:r>
          </a:p>
        </p:txBody>
      </p:sp>
      <p:sp>
        <p:nvSpPr>
          <p:cNvPr id="14" name="step-num-2">
            <a:extLst xmlns:a="http://schemas.openxmlformats.org/drawingml/2006/main">
              <a:ext uri="{FF2B5EF4-FFF2-40B4-BE49-F238E27FC236}">
                <a16:creationId xmlns:a16="http://schemas.microsoft.com/office/drawing/2014/main" id="{92CBD710-05D2-4B39-B57C-30290F5E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93E35BAB-6516-465F-BFF2-CE310562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提交修改</a:t>
            </a:r>
          </a:p>
        </p:txBody>
      </p:sp>
      <p:sp>
        <p:nvSpPr>
          <p:cNvPr id="1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DB84811-800B-4C1A-8B64-83273EC8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3855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比较问题集合与分数变化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导出不含原始源码的报告</a:t>
            </a:r>
          </a:p>
        </p:txBody>
      </p:sp>
      <p:sp>
        <p:nvSpPr>
          <p:cNvPr id="17" name="flow-result">
            <a:extLst xmlns:a="http://schemas.openxmlformats.org/drawingml/2006/main">
              <a:ext uri="{FF2B5EF4-FFF2-40B4-BE49-F238E27FC236}">
                <a16:creationId xmlns:a16="http://schemas.microsoft.com/office/drawing/2014/main" id="{1D2AB801-A346-44CC-A496-5FD32CC3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最小纵切面：一个用户操作从输入到可验证输出形成闭环</a:t>
            </a:r>
          </a:p>
        </p:txBody>
      </p:sp>
    </p:spTree>
    <p:extLst>
      <p:ext uri="{BB962C8B-B14F-4D97-AF65-F5344CB8AC3E}">
        <p14:creationId xmlns:p14="http://schemas.microsoft.com/office/powerpoint/2010/main" val="1699764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4">
            <a:extLst xmlns:a="http://schemas.openxmlformats.org/drawingml/2006/main">
              <a:ext uri="{FF2B5EF4-FFF2-40B4-BE49-F238E27FC236}">
                <a16:creationId xmlns:a16="http://schemas.microsoft.com/office/drawing/2014/main" id="{9DC0D7E1-C357-475D-9677-E854662C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架构把确定性事实、AI 解释与持久化隔开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84CACBE7-E1E3-47D9-B2F4-B32290A8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cxnSp>
        <p:nvCxnSpPr>
          <p:cNvPr id="32" name="arch-arrow-1"/>
          <p:cNvCxnSpPr/>
          <p:nvPr/>
        </p:nvCxnSpPr>
        <p:spPr>
          <a:xfrm xmlns:a="http://schemas.openxmlformats.org/drawingml/2006/main">
            <a:off x="3562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3" name="arch-arrow-2"/>
          <p:cNvCxnSpPr/>
          <p:nvPr/>
        </p:nvCxnSpPr>
        <p:spPr>
          <a:xfrm xmlns:a="http://schemas.openxmlformats.org/drawingml/2006/main">
            <a:off x="781050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arch-input-surface">
            <a:extLst xmlns:a="http://schemas.openxmlformats.org/drawingml/2006/main">
              <a:ext uri="{FF2B5EF4-FFF2-40B4-BE49-F238E27FC236}">
                <a16:creationId xmlns:a16="http://schemas.microsoft.com/office/drawing/2014/main" id="{F8D4A362-D340-4BC5-A496-54DAD240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input-accent">
            <a:extLst xmlns:a="http://schemas.openxmlformats.org/drawingml/2006/main">
              <a:ext uri="{FF2B5EF4-FFF2-40B4-BE49-F238E27FC236}">
                <a16:creationId xmlns:a16="http://schemas.microsoft.com/office/drawing/2014/main" id="{0D90A6FC-BB05-4E5D-88A4-6AFB9F5F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input-heading">
            <a:extLst xmlns:a="http://schemas.openxmlformats.org/drawingml/2006/main">
              <a:ext uri="{FF2B5EF4-FFF2-40B4-BE49-F238E27FC236}">
                <a16:creationId xmlns:a16="http://schemas.microsoft.com/office/drawing/2014/main" id="{85068B7E-842E-46D7-97DC-E1C74744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输入与编排</a:t>
            </a:r>
          </a:p>
        </p:txBody>
      </p:sp>
      <p:sp>
        <p:nvSpPr>
          <p:cNvPr id="8" name="arch-input-body">
            <a:extLst xmlns:a="http://schemas.openxmlformats.org/drawingml/2006/main">
              <a:ext uri="{FF2B5EF4-FFF2-40B4-BE49-F238E27FC236}">
                <a16:creationId xmlns:a16="http://schemas.microsoft.com/office/drawing/2014/main" id="{998F2D3E-6F2C-4345-A8CD-31B76D9C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667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FastAPI / Web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InputGuard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ReviewService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自动语言路由</a:t>
            </a:r>
          </a:p>
        </p:txBody>
      </p:sp>
      <p:sp>
        <p:nvSpPr>
          <p:cNvPr id="9" name="arch-core-surface">
            <a:extLst xmlns:a="http://schemas.openxmlformats.org/drawingml/2006/main">
              <a:ext uri="{FF2B5EF4-FFF2-40B4-BE49-F238E27FC236}">
                <a16:creationId xmlns:a16="http://schemas.microsoft.com/office/drawing/2014/main" id="{09ECEE07-D6C7-41E1-ABA1-589B40F2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core-accent">
            <a:extLst xmlns:a="http://schemas.openxmlformats.org/drawingml/2006/main">
              <a:ext uri="{FF2B5EF4-FFF2-40B4-BE49-F238E27FC236}">
                <a16:creationId xmlns:a16="http://schemas.microsoft.com/office/drawing/2014/main" id="{11C9BD1D-00AF-4FA4-BE06-3A073A97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core-heading">
            <a:extLst xmlns:a="http://schemas.openxmlformats.org/drawingml/2006/main">
              <a:ext uri="{FF2B5EF4-FFF2-40B4-BE49-F238E27FC236}">
                <a16:creationId xmlns:a16="http://schemas.microsoft.com/office/drawing/2014/main" id="{1A50DF79-51A0-428D-81DF-F0ABB0F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确定性核心</a:t>
            </a:r>
          </a:p>
        </p:txBody>
      </p:sp>
      <p:sp>
        <p:nvSpPr>
          <p:cNvPr id="12" name="arch-core-body">
            <a:extLst xmlns:a="http://schemas.openxmlformats.org/drawingml/2006/main">
              <a:ext uri="{FF2B5EF4-FFF2-40B4-BE49-F238E27FC236}">
                <a16:creationId xmlns:a16="http://schemas.microsoft.com/office/drawing/2014/main" id="{B37A6481-D3EB-410B-B004-C65FF12B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38450"/>
            <a:ext cx="29146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C++ g++ 语法探针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Python AST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静态规则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评分与比较</a:t>
            </a:r>
          </a:p>
        </p:txBody>
      </p:sp>
      <p:sp>
        <p:nvSpPr>
          <p:cNvPr id="13" name="arch-output-surface">
            <a:extLst xmlns:a="http://schemas.openxmlformats.org/drawingml/2006/main">
              <a:ext uri="{FF2B5EF4-FFF2-40B4-BE49-F238E27FC236}">
                <a16:creationId xmlns:a16="http://schemas.microsoft.com/office/drawing/2014/main" id="{87FCDD88-3156-41F2-B101-339D55B0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574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-output-accent">
            <a:extLst xmlns:a="http://schemas.openxmlformats.org/drawingml/2006/main">
              <a:ext uri="{FF2B5EF4-FFF2-40B4-BE49-F238E27FC236}">
                <a16:creationId xmlns:a16="http://schemas.microsoft.com/office/drawing/2014/main" id="{D5599183-E27D-4C1C-806C-BDA8BC75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574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-output-heading">
            <a:extLst xmlns:a="http://schemas.openxmlformats.org/drawingml/2006/main">
              <a:ext uri="{FF2B5EF4-FFF2-40B4-BE49-F238E27FC236}">
                <a16:creationId xmlns:a16="http://schemas.microsoft.com/office/drawing/2014/main" id="{B5FD8781-1456-40C6-A61C-146991E3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解释与交付</a:t>
            </a:r>
          </a:p>
        </p:txBody>
      </p:sp>
      <p:sp>
        <p:nvSpPr>
          <p:cNvPr id="16" name="arch-output-body">
            <a:extLst xmlns:a="http://schemas.openxmlformats.org/drawingml/2006/main">
              <a:ext uri="{FF2B5EF4-FFF2-40B4-BE49-F238E27FC236}">
                <a16:creationId xmlns:a16="http://schemas.microsoft.com/office/drawing/2014/main" id="{23472BF7-96BE-4C63-8E13-7596E0C5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38450"/>
            <a:ext cx="2667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AI Coach 可降级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SQLite 问题记录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Markdown 报告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浏览器结果页</a:t>
            </a:r>
          </a:p>
        </p:txBody>
      </p:sp>
      <p:sp>
        <p:nvSpPr>
          <p:cNvPr id="17" name="arch-boundary">
            <a:extLst xmlns:a="http://schemas.openxmlformats.org/drawingml/2006/main">
              <a:ext uri="{FF2B5EF4-FFF2-40B4-BE49-F238E27FC236}">
                <a16:creationId xmlns:a16="http://schemas.microsoft.com/office/drawing/2014/main" id="{16E0524E-9B9C-4B5D-802A-AF704745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1495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D1495B"/>
                </a:solidFill>
                <a:latin typeface="微软雅黑"/>
                <a:ea typeface="微软雅黑"/>
                <a:cs typeface="微软雅黑"/>
              </a:rPr>
              <a:t>关键约束：Analyzer 不调用 AI；AI 不能新增、删除或修改 StaticIssue，也不能参与分数计算。</a:t>
            </a:r>
          </a:p>
        </p:txBody>
      </p:sp>
    </p:spTree>
    <p:extLst>
      <p:ext uri="{BB962C8B-B14F-4D97-AF65-F5344CB8AC3E}">
        <p14:creationId xmlns:p14="http://schemas.microsoft.com/office/powerpoint/2010/main" val="299148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5">
            <a:extLst xmlns:a="http://schemas.openxmlformats.org/drawingml/2006/main">
              <a:ext uri="{FF2B5EF4-FFF2-40B4-BE49-F238E27FC236}">
                <a16:creationId xmlns:a16="http://schemas.microsoft.com/office/drawing/2014/main" id="{0C197FEA-EA97-473C-A9C4-E5CC449D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AI 是可降级的教学层，不是事实来源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7B718E87-2E57-47DC-9F8F-51F10E35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" name="ai-intro">
            <a:extLst xmlns:a="http://schemas.openxmlformats.org/drawingml/2006/main">
              <a:ext uri="{FF2B5EF4-FFF2-40B4-BE49-F238E27FC236}">
                <a16:creationId xmlns:a16="http://schemas.microsoft.com/office/drawing/2014/main" id="{3ACE65BE-AD81-4E82-B52D-35E129F6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确定性结果始终先完成；模型只接收脱敏后的问题事实。</a:t>
            </a:r>
          </a:p>
        </p:txBody>
      </p:sp>
      <p:sp>
        <p:nvSpPr>
          <p:cNvPr id="4" name="ai-contract-surface">
            <a:extLst xmlns:a="http://schemas.openxmlformats.org/drawingml/2006/main">
              <a:ext uri="{FF2B5EF4-FFF2-40B4-BE49-F238E27FC236}">
                <a16:creationId xmlns:a16="http://schemas.microsoft.com/office/drawing/2014/main" id="{75998300-7FEC-4ACB-906E-37AB280E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i-contract-accent">
            <a:extLst xmlns:a="http://schemas.openxmlformats.org/drawingml/2006/main">
              <a:ext uri="{FF2B5EF4-FFF2-40B4-BE49-F238E27FC236}">
                <a16:creationId xmlns:a16="http://schemas.microsoft.com/office/drawing/2014/main" id="{17D3BD74-2261-455F-BE23-E9FAB635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i-contract-heading">
            <a:extLst xmlns:a="http://schemas.openxmlformats.org/drawingml/2006/main">
              <a:ext uri="{FF2B5EF4-FFF2-40B4-BE49-F238E27FC236}">
                <a16:creationId xmlns:a16="http://schemas.microsoft.com/office/drawing/2014/main" id="{2AC20752-4B22-4942-BB4B-BDCF40E8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结构合同</a:t>
            </a:r>
          </a:p>
        </p:txBody>
      </p:sp>
      <p:sp>
        <p:nvSpPr>
          <p:cNvPr id="7" name="ai-contract-body">
            <a:extLst xmlns:a="http://schemas.openxmlformats.org/drawingml/2006/main">
              <a:ext uri="{FF2B5EF4-FFF2-40B4-BE49-F238E27FC236}">
                <a16:creationId xmlns:a16="http://schemas.microsoft.com/office/drawing/2014/main" id="{5B0C2239-8791-4834-8346-4516F5C6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摘要、修复顺序、概念映射、练习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输出字段与类型必须通过校验</a:t>
            </a:r>
          </a:p>
        </p:txBody>
      </p:sp>
      <p:sp>
        <p:nvSpPr>
          <p:cNvPr id="8" name="ai-budget-surface">
            <a:extLst xmlns:a="http://schemas.openxmlformats.org/drawingml/2006/main">
              <a:ext uri="{FF2B5EF4-FFF2-40B4-BE49-F238E27FC236}">
                <a16:creationId xmlns:a16="http://schemas.microsoft.com/office/drawing/2014/main" id="{5B76B1B3-876A-434B-99F5-274684F8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5715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i-budget-accent">
            <a:extLst xmlns:a="http://schemas.openxmlformats.org/drawingml/2006/main">
              <a:ext uri="{FF2B5EF4-FFF2-40B4-BE49-F238E27FC236}">
                <a16:creationId xmlns:a16="http://schemas.microsoft.com/office/drawing/2014/main" id="{8EB9023D-8D7F-4FAF-92C2-9280EB1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budget-heading">
            <a:extLst xmlns:a="http://schemas.openxmlformats.org/drawingml/2006/main">
              <a:ext uri="{FF2B5EF4-FFF2-40B4-BE49-F238E27FC236}">
                <a16:creationId xmlns:a16="http://schemas.microsoft.com/office/drawing/2014/main" id="{327CCE9B-F1EC-4E3F-9EB8-9DCDEA3A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调用预算</a:t>
            </a:r>
          </a:p>
        </p:txBody>
      </p:sp>
      <p:sp>
        <p:nvSpPr>
          <p:cNvPr id="11" name="ai-budget-body">
            <a:extLst xmlns:a="http://schemas.openxmlformats.org/drawingml/2006/main">
              <a:ext uri="{FF2B5EF4-FFF2-40B4-BE49-F238E27FC236}">
                <a16:creationId xmlns:a16="http://schemas.microsoft.com/office/drawing/2014/main" id="{9539C75F-95EF-407D-B99B-939A5D71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单次 20 秒；总路径 35 秒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结构错误最多修复重试一次</a:t>
            </a:r>
          </a:p>
        </p:txBody>
      </p:sp>
      <p:sp>
        <p:nvSpPr>
          <p:cNvPr id="12" name="ai-degrade-surface">
            <a:extLst xmlns:a="http://schemas.openxmlformats.org/drawingml/2006/main">
              <a:ext uri="{FF2B5EF4-FFF2-40B4-BE49-F238E27FC236}">
                <a16:creationId xmlns:a16="http://schemas.microsoft.com/office/drawing/2014/main" id="{5FE2C2D4-CFB3-4833-81A6-33117D22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i-degrade-accent">
            <a:extLst xmlns:a="http://schemas.openxmlformats.org/drawingml/2006/main">
              <a:ext uri="{FF2B5EF4-FFF2-40B4-BE49-F238E27FC236}">
                <a16:creationId xmlns:a16="http://schemas.microsoft.com/office/drawing/2014/main" id="{0E05C2FF-D7DA-4926-A429-FEC3F825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degrade-heading">
            <a:extLst xmlns:a="http://schemas.openxmlformats.org/drawingml/2006/main">
              <a:ext uri="{FF2B5EF4-FFF2-40B4-BE49-F238E27FC236}">
                <a16:creationId xmlns:a16="http://schemas.microsoft.com/office/drawing/2014/main" id="{79FDD39E-35E1-4D44-92FB-881B1FC8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失败降级</a:t>
            </a:r>
          </a:p>
        </p:txBody>
      </p:sp>
      <p:sp>
        <p:nvSpPr>
          <p:cNvPr id="15" name="ai-degrade-body">
            <a:extLst xmlns:a="http://schemas.openxmlformats.org/drawingml/2006/main">
              <a:ext uri="{FF2B5EF4-FFF2-40B4-BE49-F238E27FC236}">
                <a16:creationId xmlns:a16="http://schemas.microsoft.com/office/drawing/2014/main" id="{3C59396B-FF44-46EF-8580-9C1E3199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离线、超时、空响应或结构错误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静态结果仍返回，状态标为 unavailable</a:t>
            </a:r>
          </a:p>
        </p:txBody>
      </p:sp>
      <p:sp>
        <p:nvSpPr>
          <p:cNvPr id="16" name="ai-sensitive-surface">
            <a:extLst xmlns:a="http://schemas.openxmlformats.org/drawingml/2006/main">
              <a:ext uri="{FF2B5EF4-FFF2-40B4-BE49-F238E27FC236}">
                <a16:creationId xmlns:a16="http://schemas.microsoft.com/office/drawing/2014/main" id="{819E77AE-D07D-477C-AB6E-0AA95BBA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5715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i-sensitive-accent">
            <a:extLst xmlns:a="http://schemas.openxmlformats.org/drawingml/2006/main">
              <a:ext uri="{FF2B5EF4-FFF2-40B4-BE49-F238E27FC236}">
                <a16:creationId xmlns:a16="http://schemas.microsoft.com/office/drawing/2014/main" id="{6CD04868-7FE3-4442-B325-D99B5797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sensitive-heading">
            <a:extLst xmlns:a="http://schemas.openxmlformats.org/drawingml/2006/main">
              <a:ext uri="{FF2B5EF4-FFF2-40B4-BE49-F238E27FC236}">
                <a16:creationId xmlns:a16="http://schemas.microsoft.com/office/drawing/2014/main" id="{CB49AB71-D491-462B-80D5-607B2F9A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敏感阻断</a:t>
            </a:r>
          </a:p>
        </p:txBody>
      </p:sp>
      <p:sp>
        <p:nvSpPr>
          <p:cNvPr id="19" name="ai-sensitive-body">
            <a:extLst xmlns:a="http://schemas.openxmlformats.org/drawingml/2006/main">
              <a:ext uri="{FF2B5EF4-FFF2-40B4-BE49-F238E27FC236}">
                <a16:creationId xmlns:a16="http://schemas.microsoft.com/office/drawing/2014/main" id="{5AC38FB8-3D32-4A75-86F3-CC23648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疑似凭证在真实模型调用前被阻断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数据库、日志和报告均不保存原始源码</a:t>
            </a:r>
          </a:p>
        </p:txBody>
      </p:sp>
    </p:spTree>
    <p:extLst>
      <p:ext uri="{BB962C8B-B14F-4D97-AF65-F5344CB8AC3E}">
        <p14:creationId xmlns:p14="http://schemas.microsoft.com/office/powerpoint/2010/main" val="567556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C276B869-5F77-4A8B-9A3D-9E41BA77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质量结论由可重复证据支撑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26CE91A3-CFBB-48BC-BB81-E4483FEF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" name="metrics-context">
            <a:extLst xmlns:a="http://schemas.openxmlformats.org/drawingml/2006/main">
              <a:ext uri="{FF2B5EF4-FFF2-40B4-BE49-F238E27FC236}">
                <a16:creationId xmlns:a16="http://schemas.microsoft.com/office/drawing/2014/main" id="{EF06E83D-DBC0-43FE-B374-2EAE0F5F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Gate 3 同时使用单元/集成/评估测试、真实 HTTP、真实浏览器和安全扫描，避免把演示观感当成验收。</a:t>
            </a:r>
          </a:p>
        </p:txBody>
      </p:sp>
      <p:sp>
        <p:nvSpPr>
          <p:cNvPr id="4" name="metric-card-0">
            <a:extLst xmlns:a="http://schemas.openxmlformats.org/drawingml/2006/main">
              <a:ext uri="{FF2B5EF4-FFF2-40B4-BE49-F238E27FC236}">
                <a16:creationId xmlns:a16="http://schemas.microsoft.com/office/drawing/2014/main" id="{F791F075-F987-463B-85F6-FB50DCE0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stat-0">
            <a:extLst xmlns:a="http://schemas.openxmlformats.org/drawingml/2006/main">
              <a:ext uri="{FF2B5EF4-FFF2-40B4-BE49-F238E27FC236}">
                <a16:creationId xmlns:a16="http://schemas.microsoft.com/office/drawing/2014/main" id="{48D3DE0C-A5D9-449B-A7F7-B14A4E3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570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51</a:t>
            </a:r>
          </a:p>
        </p:txBody>
      </p:sp>
      <p:sp>
        <p:nvSpPr>
          <p:cNvPr id="6" name="metric-heading-0">
            <a:extLst xmlns:a="http://schemas.openxmlformats.org/drawingml/2006/main">
              <a:ext uri="{FF2B5EF4-FFF2-40B4-BE49-F238E27FC236}">
                <a16:creationId xmlns:a16="http://schemas.microsoft.com/office/drawing/2014/main" id="{1F9A0EE1-ED6B-4907-AAA2-30F878D0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自动化测试通过</a:t>
            </a:r>
          </a:p>
        </p:txBody>
      </p:sp>
      <p:sp>
        <p:nvSpPr>
          <p:cNvPr id="7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CF4CBFE2-BA44-4E1E-A3AE-2B82FC68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覆盖领域逻辑、分析器、AI 降级、存储和 API</a:t>
            </a:r>
          </a:p>
        </p:txBody>
      </p:sp>
      <p:sp>
        <p:nvSpPr>
          <p:cNvPr id="8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EBAE1442-D9E4-4BF9-833C-C5C0A06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955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1C1433D8-3AC3-4DE6-B312-AB7DCD0D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57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10" name="metric-heading-1">
            <a:extLst xmlns:a="http://schemas.openxmlformats.org/drawingml/2006/main">
              <a:ext uri="{FF2B5EF4-FFF2-40B4-BE49-F238E27FC236}">
                <a16:creationId xmlns:a16="http://schemas.microsoft.com/office/drawing/2014/main" id="{E4FAB592-135F-4F0A-91D5-41E3579F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19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受控语言样例</a:t>
            </a:r>
          </a:p>
        </p:txBody>
      </p:sp>
      <p:sp>
        <p:nvSpPr>
          <p:cNvPr id="11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AD7F33E8-D456-4B52-AD94-09599743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910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重复评估 C++、Python 与 unknown 的决策边界</a:t>
            </a:r>
          </a:p>
        </p:txBody>
      </p:sp>
      <p:sp>
        <p:nvSpPr>
          <p:cNvPr id="12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7C986424-5818-4D2D-98CF-8C1B4E42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72A85F9C-8586-4FF3-87EB-24032717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57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" name="metric-heading-2">
            <a:extLst xmlns:a="http://schemas.openxmlformats.org/drawingml/2006/main">
              <a:ext uri="{FF2B5EF4-FFF2-40B4-BE49-F238E27FC236}">
                <a16:creationId xmlns:a16="http://schemas.microsoft.com/office/drawing/2014/main" id="{44CEAF41-E5E3-4BF7-9900-4D8CEF7C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19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UAT 场景</a:t>
            </a:r>
          </a:p>
        </p:txBody>
      </p:sp>
      <p:sp>
        <p:nvSpPr>
          <p:cNvPr id="15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8EBFF930-6186-49EE-9EC4-78F184EE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910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主路径、错误路径、安全边界和浏览器流程</a:t>
            </a:r>
          </a:p>
        </p:txBody>
      </p:sp>
      <p:sp>
        <p:nvSpPr>
          <p:cNvPr id="16" name="metrics-footer">
            <a:extLst xmlns:a="http://schemas.openxmlformats.org/drawingml/2006/main">
              <a:ext uri="{FF2B5EF4-FFF2-40B4-BE49-F238E27FC236}">
                <a16:creationId xmlns:a16="http://schemas.microsoft.com/office/drawing/2014/main" id="{F026FFD7-AF71-40EA-90D2-8C0B6A4A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8A5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38A5B"/>
                </a:solidFill>
                <a:latin typeface="微软雅黑"/>
                <a:ea typeface="微软雅黑"/>
                <a:cs typeface="微软雅黑"/>
              </a:rPr>
              <a:t>HTTP UAT = PASS · Security scan = PASS · Browser console = 0 error / 0 warning</a:t>
            </a:r>
          </a:p>
        </p:txBody>
      </p:sp>
    </p:spTree>
    <p:extLst>
      <p:ext uri="{BB962C8B-B14F-4D97-AF65-F5344CB8AC3E}">
        <p14:creationId xmlns:p14="http://schemas.microsoft.com/office/powerpoint/2010/main" val="152412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7">
            <a:extLst xmlns:a="http://schemas.openxmlformats.org/drawingml/2006/main">
              <a:ext uri="{FF2B5EF4-FFF2-40B4-BE49-F238E27FC236}">
                <a16:creationId xmlns:a16="http://schemas.microsoft.com/office/drawing/2014/main" id="{61107A9F-7CA5-4C37-918B-257ED7FC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真实浏览器完成了“评审 → 修改 → 对比”主路径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7103CCFB-AA63-41A2-9B6F-BF417700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2e20eb8e7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9933" y="1200150"/>
            <a:ext cx="448983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shot-note-surface">
            <a:extLst xmlns:a="http://schemas.openxmlformats.org/drawingml/2006/main">
              <a:ext uri="{FF2B5EF4-FFF2-40B4-BE49-F238E27FC236}">
                <a16:creationId xmlns:a16="http://schemas.microsoft.com/office/drawing/2014/main" id="{B29B9BA7-5ECB-4199-8F6F-B88135C5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200150"/>
            <a:ext cx="2819400" cy="48577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ot-note-title">
            <a:extLst xmlns:a="http://schemas.openxmlformats.org/drawingml/2006/main">
              <a:ext uri="{FF2B5EF4-FFF2-40B4-BE49-F238E27FC236}">
                <a16:creationId xmlns:a16="http://schemas.microsoft.com/office/drawing/2014/main" id="{BA4FACBD-2B0C-40E9-A281-252EAA5F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可见结果</a:t>
            </a:r>
          </a:p>
        </p:txBody>
      </p:sp>
      <p:sp>
        <p:nvSpPr>
          <p:cNvPr id="6" name="shot-note-body">
            <a:extLst xmlns:a="http://schemas.openxmlformats.org/drawingml/2006/main">
              <a:ext uri="{FF2B5EF4-FFF2-40B4-BE49-F238E27FC236}">
                <a16:creationId xmlns:a16="http://schemas.microsoft.com/office/drawing/2014/main" id="{FBD2E2CC-B36E-4D0A-B72A-3D631EDC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219075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自动识别：C++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初次分数：90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静态问题：2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AI 状态：available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修改后：nullptr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分数变化：+10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已解决：2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仍存在：0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新增：0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控制台：0 error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控制台：0 warning</a:t>
            </a:r>
          </a:p>
        </p:txBody>
      </p:sp>
    </p:spTree>
    <p:extLst>
      <p:ext uri="{BB962C8B-B14F-4D97-AF65-F5344CB8AC3E}">
        <p14:creationId xmlns:p14="http://schemas.microsoft.com/office/powerpoint/2010/main" val="1458573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8">
            <a:extLst xmlns:a="http://schemas.openxmlformats.org/drawingml/2006/main">
              <a:ext uri="{FF2B5EF4-FFF2-40B4-BE49-F238E27FC236}">
                <a16:creationId xmlns:a16="http://schemas.microsoft.com/office/drawing/2014/main" id="{AE534091-D209-48A9-BB46-235B8EA7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Loop Engineering 把失败转成了可审计的修正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88E05FD1-E0BD-4DFB-9E11-CB0A90F8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3" name="loop-intro">
            <a:extLst xmlns:a="http://schemas.openxmlformats.org/drawingml/2006/main">
              <a:ext uri="{FF2B5EF4-FFF2-40B4-BE49-F238E27FC236}">
                <a16:creationId xmlns:a16="http://schemas.microsoft.com/office/drawing/2014/main" id="{06B0251B-706C-4175-AFCA-D7F459A9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每轮都保留假设、行动、命令或产物、结果、结论和下一步。</a:t>
            </a:r>
          </a:p>
        </p:txBody>
      </p:sp>
      <p:sp>
        <p:nvSpPr>
          <p:cNvPr id="4" name="loop-tdd-surface">
            <a:extLst xmlns:a="http://schemas.openxmlformats.org/drawingml/2006/main">
              <a:ext uri="{FF2B5EF4-FFF2-40B4-BE49-F238E27FC236}">
                <a16:creationId xmlns:a16="http://schemas.microsoft.com/office/drawing/2014/main" id="{06EDAA71-4F02-48A7-A643-3170988D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op-tdd-accent">
            <a:extLst xmlns:a="http://schemas.openxmlformats.org/drawingml/2006/main">
              <a:ext uri="{FF2B5EF4-FFF2-40B4-BE49-F238E27FC236}">
                <a16:creationId xmlns:a16="http://schemas.microsoft.com/office/drawing/2014/main" id="{38BB0258-21FE-4796-9F4D-95D4997E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tdd-heading">
            <a:extLst xmlns:a="http://schemas.openxmlformats.org/drawingml/2006/main">
              <a:ext uri="{FF2B5EF4-FFF2-40B4-BE49-F238E27FC236}">
                <a16:creationId xmlns:a16="http://schemas.microsoft.com/office/drawing/2014/main" id="{410287C5-2D85-494E-B144-9ED46A6B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Red → Green</a:t>
            </a:r>
          </a:p>
        </p:txBody>
      </p:sp>
      <p:sp>
        <p:nvSpPr>
          <p:cNvPr id="7" name="loop-tdd-body">
            <a:extLst xmlns:a="http://schemas.openxmlformats.org/drawingml/2006/main">
              <a:ext uri="{FF2B5EF4-FFF2-40B4-BE49-F238E27FC236}">
                <a16:creationId xmlns:a16="http://schemas.microsoft.com/office/drawing/2014/main" id="{8B48742A-1CBB-4B96-888E-ECCBE82A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6 个测试收集错误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→ 实现模块后 45 项 W3 测试通过</a:t>
            </a:r>
          </a:p>
        </p:txBody>
      </p:sp>
      <p:sp>
        <p:nvSpPr>
          <p:cNvPr id="8" name="loop-http-surface">
            <a:extLst xmlns:a="http://schemas.openxmlformats.org/drawingml/2006/main">
              <a:ext uri="{FF2B5EF4-FFF2-40B4-BE49-F238E27FC236}">
                <a16:creationId xmlns:a16="http://schemas.microsoft.com/office/drawing/2014/main" id="{267E456D-761F-4D01-8905-62EA53CB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5715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oop-http-accent">
            <a:extLst xmlns:a="http://schemas.openxmlformats.org/drawingml/2006/main">
              <a:ext uri="{FF2B5EF4-FFF2-40B4-BE49-F238E27FC236}">
                <a16:creationId xmlns:a16="http://schemas.microsoft.com/office/drawing/2014/main" id="{BF940EC2-89AB-4F43-93DC-BF47CAE5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http-heading">
            <a:extLst xmlns:a="http://schemas.openxmlformats.org/drawingml/2006/main">
              <a:ext uri="{FF2B5EF4-FFF2-40B4-BE49-F238E27FC236}">
                <a16:creationId xmlns:a16="http://schemas.microsoft.com/office/drawing/2014/main" id="{E397C245-F3CE-4618-8631-CA51C7ED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HTTP 合同</a:t>
            </a:r>
          </a:p>
        </p:txBody>
      </p:sp>
      <p:sp>
        <p:nvSpPr>
          <p:cNvPr id="11" name="loop-http-body">
            <a:extLst xmlns:a="http://schemas.openxmlformats.org/drawingml/2006/main">
              <a:ext uri="{FF2B5EF4-FFF2-40B4-BE49-F238E27FC236}">
                <a16:creationId xmlns:a16="http://schemas.microsoft.com/office/drawing/2014/main" id="{B06D5BC8-7E7C-4AF5-B739-ACC8D57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compare 错发 goal 字段导致 422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→ 拆分 payload，保持严格 schema</a:t>
            </a:r>
          </a:p>
        </p:txBody>
      </p:sp>
      <p:sp>
        <p:nvSpPr>
          <p:cNvPr id="12" name="loop-security-surface">
            <a:extLst xmlns:a="http://schemas.openxmlformats.org/drawingml/2006/main">
              <a:ext uri="{FF2B5EF4-FFF2-40B4-BE49-F238E27FC236}">
                <a16:creationId xmlns:a16="http://schemas.microsoft.com/office/drawing/2014/main" id="{DA27AB5F-B022-44FE-B250-76922E2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security-accent">
            <a:extLst xmlns:a="http://schemas.openxmlformats.org/drawingml/2006/main">
              <a:ext uri="{FF2B5EF4-FFF2-40B4-BE49-F238E27FC236}">
                <a16:creationId xmlns:a16="http://schemas.microsoft.com/office/drawing/2014/main" id="{F350356A-4570-439B-9D32-2F67E725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security-heading">
            <a:extLst xmlns:a="http://schemas.openxmlformats.org/drawingml/2006/main">
              <a:ext uri="{FF2B5EF4-FFF2-40B4-BE49-F238E27FC236}">
                <a16:creationId xmlns:a16="http://schemas.microsoft.com/office/drawing/2014/main" id="{29803F65-68AB-4C21-9A60-76975DB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安全扫描</a:t>
            </a:r>
          </a:p>
        </p:txBody>
      </p:sp>
      <p:sp>
        <p:nvSpPr>
          <p:cNvPr id="15" name="loop-security-body">
            <a:extLst xmlns:a="http://schemas.openxmlformats.org/drawingml/2006/main">
              <a:ext uri="{FF2B5EF4-FFF2-40B4-BE49-F238E27FC236}">
                <a16:creationId xmlns:a16="http://schemas.microsoft.com/office/drawing/2014/main" id="{DBECE03E-1A2D-4EDA-ABD6-C3C51863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私钥模式被误认作命令选项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→ 增加参数边界并独立重跑</a:t>
            </a:r>
          </a:p>
        </p:txBody>
      </p:sp>
      <p:sp>
        <p:nvSpPr>
          <p:cNvPr id="16" name="loop-review-surface">
            <a:extLst xmlns:a="http://schemas.openxmlformats.org/drawingml/2006/main">
              <a:ext uri="{FF2B5EF4-FFF2-40B4-BE49-F238E27FC236}">
                <a16:creationId xmlns:a16="http://schemas.microsoft.com/office/drawing/2014/main" id="{1A40C236-1822-4E0C-86B3-018649D4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5715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review-accent">
            <a:extLst xmlns:a="http://schemas.openxmlformats.org/drawingml/2006/main">
              <a:ext uri="{FF2B5EF4-FFF2-40B4-BE49-F238E27FC236}">
                <a16:creationId xmlns:a16="http://schemas.microsoft.com/office/drawing/2014/main" id="{BF36947D-C73F-40E3-8EB7-2839113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review-heading">
            <a:extLst xmlns:a="http://schemas.openxmlformats.org/drawingml/2006/main">
              <a:ext uri="{FF2B5EF4-FFF2-40B4-BE49-F238E27FC236}">
                <a16:creationId xmlns:a16="http://schemas.microsoft.com/office/drawing/2014/main" id="{1F8F0C3E-2A76-49CB-976E-E68D65DC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独立复核</a:t>
            </a:r>
          </a:p>
        </p:txBody>
      </p:sp>
      <p:sp>
        <p:nvSpPr>
          <p:cNvPr id="19" name="loop-review-body">
            <a:extLst xmlns:a="http://schemas.openxmlformats.org/drawingml/2006/main">
              <a:ext uri="{FF2B5EF4-FFF2-40B4-BE49-F238E27FC236}">
                <a16:creationId xmlns:a16="http://schemas.microsoft.com/office/drawing/2014/main" id="{E5DB809E-0186-4D22-9183-C44C1EE0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审查指出编译器资源风险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→ 为 g++ 探针增加 prlimit 与测试</a:t>
            </a:r>
          </a:p>
        </p:txBody>
      </p:sp>
    </p:spTree>
    <p:extLst>
      <p:ext uri="{BB962C8B-B14F-4D97-AF65-F5344CB8AC3E}">
        <p14:creationId xmlns:p14="http://schemas.microsoft.com/office/powerpoint/2010/main" val="449969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9">
            <a:extLst xmlns:a="http://schemas.openxmlformats.org/drawingml/2006/main">
              <a:ext uri="{FF2B5EF4-FFF2-40B4-BE49-F238E27FC236}">
                <a16:creationId xmlns:a16="http://schemas.microsoft.com/office/drawing/2014/main" id="{7D9892A2-FC81-4143-A908-50E6071B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Gate 3 证明系统能运行、能解释、也能安全失败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339737CE-ED2F-4472-96C3-0501CA7D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3" name="gate-claim">
            <a:extLst xmlns:a="http://schemas.openxmlformats.org/drawingml/2006/main">
              <a:ext uri="{FF2B5EF4-FFF2-40B4-BE49-F238E27FC236}">
                <a16:creationId xmlns:a16="http://schemas.microsoft.com/office/drawing/2014/main" id="{A5CDAE95-BD50-4299-93D4-46254D70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最终结论：</a:t>
            </a:r>
            <a:r>
              <a:rPr sz="25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MODIFIED_PASS</a:t>
            </a:r>
          </a:p>
        </p:txBody>
      </p:sp>
      <p:sp>
        <p:nvSpPr>
          <p:cNvPr id="4" name="gate-context">
            <a:extLst xmlns:a="http://schemas.openxmlformats.org/drawingml/2006/main">
              <a:ext uri="{FF2B5EF4-FFF2-40B4-BE49-F238E27FC236}">
                <a16:creationId xmlns:a16="http://schemas.microsoft.com/office/drawing/2014/main" id="{BF36348E-8528-4AB5-A4A2-E2D32A98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交付材料包括</a:t>
            </a:r>
            <a:r>
              <a: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运行手册、最终报告、UAT、Gate 证据、答辩 PPT 与文件哈希清单。</a:t>
            </a:r>
          </a:p>
        </p:txBody>
      </p:sp>
      <p:sp>
        <p:nvSpPr>
          <p:cNvPr id="5" name="check-dot-0">
            <a:extLst xmlns:a="http://schemas.openxmlformats.org/drawingml/2006/main">
              <a:ext uri="{FF2B5EF4-FFF2-40B4-BE49-F238E27FC236}">
                <a16:creationId xmlns:a16="http://schemas.microsoft.com/office/drawing/2014/main" id="{07C06268-91CF-43BA-B55D-639DCA0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859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eck-mark-0">
            <a:extLst xmlns:a="http://schemas.openxmlformats.org/drawingml/2006/main">
              <a:ext uri="{FF2B5EF4-FFF2-40B4-BE49-F238E27FC236}">
                <a16:creationId xmlns:a16="http://schemas.microsoft.com/office/drawing/2014/main" id="{BDBBF113-B56C-446C-BE52-0EC162EE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66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" name="check-label-0">
            <a:extLst xmlns:a="http://schemas.openxmlformats.org/drawingml/2006/main">
              <a:ext uri="{FF2B5EF4-FFF2-40B4-BE49-F238E27FC236}">
                <a16:creationId xmlns:a16="http://schemas.microsoft.com/office/drawing/2014/main" id="{92FECBE6-0DD3-43E1-8949-F0742E4A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478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不执行用户代码</a:t>
            </a:r>
          </a:p>
        </p:txBody>
      </p:sp>
      <p:sp>
        <p:nvSpPr>
          <p:cNvPr id="8" name="check-dot-1">
            <a:extLst xmlns:a="http://schemas.openxmlformats.org/drawingml/2006/main">
              <a:ext uri="{FF2B5EF4-FFF2-40B4-BE49-F238E27FC236}">
                <a16:creationId xmlns:a16="http://schemas.microsoft.com/office/drawing/2014/main" id="{7B720A0A-8342-47C7-9246-B91EF247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-mark-1">
            <a:extLst xmlns:a="http://schemas.openxmlformats.org/drawingml/2006/main">
              <a:ext uri="{FF2B5EF4-FFF2-40B4-BE49-F238E27FC236}">
                <a16:creationId xmlns:a16="http://schemas.microsoft.com/office/drawing/2014/main" id="{8E9B0839-5C4B-452F-A372-D60D5EF4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0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C1D7A1FB-DBE9-4316-AB38-899850B3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不保存原始源码</a:t>
            </a:r>
          </a:p>
        </p:txBody>
      </p:sp>
      <p:sp>
        <p:nvSpPr>
          <p:cNvPr id="11" name="check-dot-2">
            <a:extLst xmlns:a="http://schemas.openxmlformats.org/drawingml/2006/main">
              <a:ext uri="{FF2B5EF4-FFF2-40B4-BE49-F238E27FC236}">
                <a16:creationId xmlns:a16="http://schemas.microsoft.com/office/drawing/2014/main" id="{F2056FEB-E04C-4B79-B913-56979E4F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-mark-2">
            <a:extLst xmlns:a="http://schemas.openxmlformats.org/drawingml/2006/main">
              <a:ext uri="{FF2B5EF4-FFF2-40B4-BE49-F238E27FC236}">
                <a16:creationId xmlns:a16="http://schemas.microsoft.com/office/drawing/2014/main" id="{E6E26FA7-F6EA-4827-B825-CD16B45B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003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3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AD93E322-21D9-4C0E-B1A6-711AC801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敏感输入先于真实 AI 阻断</a:t>
            </a:r>
          </a:p>
        </p:txBody>
      </p:sp>
      <p:sp>
        <p:nvSpPr>
          <p:cNvPr id="14" name="check-dot-3">
            <a:extLst xmlns:a="http://schemas.openxmlformats.org/drawingml/2006/main">
              <a:ext uri="{FF2B5EF4-FFF2-40B4-BE49-F238E27FC236}">
                <a16:creationId xmlns:a16="http://schemas.microsoft.com/office/drawing/2014/main" id="{E98EDDE5-73D6-4626-A4C7-D1F3AE62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-mark-3">
            <a:extLst xmlns:a="http://schemas.openxmlformats.org/drawingml/2006/main">
              <a:ext uri="{FF2B5EF4-FFF2-40B4-BE49-F238E27FC236}">
                <a16:creationId xmlns:a16="http://schemas.microsoft.com/office/drawing/2014/main" id="{FC4DBAE4-C141-4055-9D06-BDBF65B4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DA60E29E-40B4-4B62-9012-4096336C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480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模型离线仍返回静态结果</a:t>
            </a:r>
          </a:p>
        </p:txBody>
      </p:sp>
      <p:sp>
        <p:nvSpPr>
          <p:cNvPr id="17" name="check-dot-4">
            <a:extLst xmlns:a="http://schemas.openxmlformats.org/drawingml/2006/main">
              <a:ext uri="{FF2B5EF4-FFF2-40B4-BE49-F238E27FC236}">
                <a16:creationId xmlns:a16="http://schemas.microsoft.com/office/drawing/2014/main" id="{C71E09EE-8369-4D3E-BA0F-E673F9C4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-mark-4">
            <a:extLst xmlns:a="http://schemas.openxmlformats.org/drawingml/2006/main">
              <a:ext uri="{FF2B5EF4-FFF2-40B4-BE49-F238E27FC236}">
                <a16:creationId xmlns:a16="http://schemas.microsoft.com/office/drawing/2014/main" id="{947B2E47-097F-4045-8DFE-E020D1E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33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9" name="check-label-4">
            <a:extLst xmlns:a="http://schemas.openxmlformats.org/drawingml/2006/main">
              <a:ext uri="{FF2B5EF4-FFF2-40B4-BE49-F238E27FC236}">
                <a16:creationId xmlns:a16="http://schemas.microsoft.com/office/drawing/2014/main" id="{854C798C-E511-48C5-AEA2-D83E09D9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g++ 仅语法检查并限制资源</a:t>
            </a:r>
          </a:p>
        </p:txBody>
      </p:sp>
      <p:sp>
        <p:nvSpPr>
          <p:cNvPr id="20" name="check-dot-5">
            <a:extLst xmlns:a="http://schemas.openxmlformats.org/drawingml/2006/main">
              <a:ext uri="{FF2B5EF4-FFF2-40B4-BE49-F238E27FC236}">
                <a16:creationId xmlns:a16="http://schemas.microsoft.com/office/drawing/2014/main" id="{B4DD3AAF-0E67-403A-9B5B-2242CA7F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-mark-5">
            <a:extLst xmlns:a="http://schemas.openxmlformats.org/drawingml/2006/main">
              <a:ext uri="{FF2B5EF4-FFF2-40B4-BE49-F238E27FC236}">
                <a16:creationId xmlns:a16="http://schemas.microsoft.com/office/drawing/2014/main" id="{624EFCA0-D17F-49FF-AFFD-3E107509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006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2" name="check-label-5">
            <a:extLst xmlns:a="http://schemas.openxmlformats.org/drawingml/2006/main">
              <a:ext uri="{FF2B5EF4-FFF2-40B4-BE49-F238E27FC236}">
                <a16:creationId xmlns:a16="http://schemas.microsoft.com/office/drawing/2014/main" id="{D6CF91AC-3CB3-4E28-BE78-7794232A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C++ / Python 主路径可复现</a:t>
            </a:r>
          </a:p>
        </p:txBody>
      </p:sp>
    </p:spTree>
    <p:extLst>
      <p:ext uri="{BB962C8B-B14F-4D97-AF65-F5344CB8AC3E}">
        <p14:creationId xmlns:p14="http://schemas.microsoft.com/office/powerpoint/2010/main" val="18214288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8">
            <a:extLst xmlns:a="http://schemas.openxmlformats.org/drawingml/2006/main">
              <a:ext uri="{FF2B5EF4-FFF2-40B4-BE49-F238E27FC236}">
                <a16:creationId xmlns:a16="http://schemas.microsoft.com/office/drawing/2014/main" id="{AE534091-D209-48A9-BB46-235B8EA7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四份交付材料可从任一入口互相定位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88E05FD1-E0BD-4DFB-9E11-CB0A90F8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3" name="loop-intro">
            <a:extLst xmlns:a="http://schemas.openxmlformats.org/drawingml/2006/main">
              <a:ext uri="{FF2B5EF4-FFF2-40B4-BE49-F238E27FC236}">
                <a16:creationId xmlns:a16="http://schemas.microsoft.com/office/drawing/2014/main" id="{06B0251B-706C-4175-AFCA-D7F459A9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README 是总入口；以下路径均相对于仓库根目录。</a:t>
            </a:r>
          </a:p>
        </p:txBody>
      </p:sp>
      <p:sp>
        <p:nvSpPr>
          <p:cNvPr id="4" name="loop-tdd-surface">
            <a:extLst xmlns:a="http://schemas.openxmlformats.org/drawingml/2006/main">
              <a:ext uri="{FF2B5EF4-FFF2-40B4-BE49-F238E27FC236}">
                <a16:creationId xmlns:a16="http://schemas.microsoft.com/office/drawing/2014/main" id="{06EDAA71-4F02-48A7-A643-3170988D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op-tdd-accent">
            <a:extLst xmlns:a="http://schemas.openxmlformats.org/drawingml/2006/main">
              <a:ext uri="{FF2B5EF4-FFF2-40B4-BE49-F238E27FC236}">
                <a16:creationId xmlns:a16="http://schemas.microsoft.com/office/drawing/2014/main" id="{38BB0258-21FE-4796-9F4D-95D4997E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tdd-heading">
            <a:extLst xmlns:a="http://schemas.openxmlformats.org/drawingml/2006/main">
              <a:ext uri="{FF2B5EF4-FFF2-40B4-BE49-F238E27FC236}">
                <a16:creationId xmlns:a16="http://schemas.microsoft.com/office/drawing/2014/main" id="{410287C5-2D85-494E-B144-9ED46A6B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第 1 次周志</a:t>
            </a:r>
          </a:p>
        </p:txBody>
      </p:sp>
      <p:sp>
        <p:nvSpPr>
          <p:cNvPr id="7" name="loop-tdd-body">
            <a:extLst xmlns:a="http://schemas.openxmlformats.org/drawingml/2006/main">
              <a:ext uri="{FF2B5EF4-FFF2-40B4-BE49-F238E27FC236}">
                <a16:creationId xmlns:a16="http://schemas.microsoft.com/office/drawing/2014/main" id="{8B48742A-1CBB-4B96-888E-ECCBE82A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submissions/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2410311404-code-coach-weekly-1.md</a:t>
            </a:r>
          </a:p>
        </p:txBody>
      </p:sp>
      <p:sp>
        <p:nvSpPr>
          <p:cNvPr id="8" name="loop-http-surface">
            <a:extLst xmlns:a="http://schemas.openxmlformats.org/drawingml/2006/main">
              <a:ext uri="{FF2B5EF4-FFF2-40B4-BE49-F238E27FC236}">
                <a16:creationId xmlns:a16="http://schemas.microsoft.com/office/drawing/2014/main" id="{267E456D-761F-4D01-8905-62EA53CB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5715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oop-http-accent">
            <a:extLst xmlns:a="http://schemas.openxmlformats.org/drawingml/2006/main">
              <a:ext uri="{FF2B5EF4-FFF2-40B4-BE49-F238E27FC236}">
                <a16:creationId xmlns:a16="http://schemas.microsoft.com/office/drawing/2014/main" id="{BF940EC2-89AB-4F43-93DC-BF47CAE5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http-heading">
            <a:extLst xmlns:a="http://schemas.openxmlformats.org/drawingml/2006/main">
              <a:ext uri="{FF2B5EF4-FFF2-40B4-BE49-F238E27FC236}">
                <a16:creationId xmlns:a16="http://schemas.microsoft.com/office/drawing/2014/main" id="{E397C245-F3CE-4618-8631-CA51C7ED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第 2 次周志</a:t>
            </a:r>
          </a:p>
        </p:txBody>
      </p:sp>
      <p:sp>
        <p:nvSpPr>
          <p:cNvPr id="11" name="loop-http-body">
            <a:extLst xmlns:a="http://schemas.openxmlformats.org/drawingml/2006/main">
              <a:ext uri="{FF2B5EF4-FFF2-40B4-BE49-F238E27FC236}">
                <a16:creationId xmlns:a16="http://schemas.microsoft.com/office/drawing/2014/main" id="{B06D5BC8-7E7C-4AF5-B739-ACC8D57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submissions/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2410311404-code-coach-weekly-2.md</a:t>
            </a:r>
          </a:p>
        </p:txBody>
      </p:sp>
      <p:sp>
        <p:nvSpPr>
          <p:cNvPr id="12" name="loop-security-surface">
            <a:extLst xmlns:a="http://schemas.openxmlformats.org/drawingml/2006/main">
              <a:ext uri="{FF2B5EF4-FFF2-40B4-BE49-F238E27FC236}">
                <a16:creationId xmlns:a16="http://schemas.microsoft.com/office/drawing/2014/main" id="{DA27AB5F-B022-44FE-B250-76922E2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security-accent">
            <a:extLst xmlns:a="http://schemas.openxmlformats.org/drawingml/2006/main">
              <a:ext uri="{FF2B5EF4-FFF2-40B4-BE49-F238E27FC236}">
                <a16:creationId xmlns:a16="http://schemas.microsoft.com/office/drawing/2014/main" id="{F350356A-4570-439B-9D32-2F67E725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security-heading">
            <a:extLst xmlns:a="http://schemas.openxmlformats.org/drawingml/2006/main">
              <a:ext uri="{FF2B5EF4-FFF2-40B4-BE49-F238E27FC236}">
                <a16:creationId xmlns:a16="http://schemas.microsoft.com/office/drawing/2014/main" id="{29803F65-68AB-4C21-9A60-76975DB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最终报告</a:t>
            </a:r>
          </a:p>
        </p:txBody>
      </p:sp>
      <p:sp>
        <p:nvSpPr>
          <p:cNvPr id="15" name="loop-security-body">
            <a:extLst xmlns:a="http://schemas.openxmlformats.org/drawingml/2006/main">
              <a:ext uri="{FF2B5EF4-FFF2-40B4-BE49-F238E27FC236}">
                <a16:creationId xmlns:a16="http://schemas.microsoft.com/office/drawing/2014/main" id="{DBECE03E-1A2D-4EDA-ABD6-C3C51863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submissions/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2410311404-code-coach-final-report.md</a:t>
            </a:r>
          </a:p>
        </p:txBody>
      </p:sp>
      <p:sp>
        <p:nvSpPr>
          <p:cNvPr id="16" name="loop-review-surface">
            <a:extLst xmlns:a="http://schemas.openxmlformats.org/drawingml/2006/main">
              <a:ext uri="{FF2B5EF4-FFF2-40B4-BE49-F238E27FC236}">
                <a16:creationId xmlns:a16="http://schemas.microsoft.com/office/drawing/2014/main" id="{1A40C236-1822-4E0C-86B3-018649D4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5715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review-accent">
            <a:extLst xmlns:a="http://schemas.openxmlformats.org/drawingml/2006/main">
              <a:ext uri="{FF2B5EF4-FFF2-40B4-BE49-F238E27FC236}">
                <a16:creationId xmlns:a16="http://schemas.microsoft.com/office/drawing/2014/main" id="{BF36947D-C73F-40E3-8EB7-2839113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review-heading">
            <a:extLst xmlns:a="http://schemas.openxmlformats.org/drawingml/2006/main">
              <a:ext uri="{FF2B5EF4-FFF2-40B4-BE49-F238E27FC236}">
                <a16:creationId xmlns:a16="http://schemas.microsoft.com/office/drawing/2014/main" id="{1F8F0C3E-2A76-49CB-976E-E68D65DC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答辩 PPT</a:t>
            </a:r>
          </a:p>
        </p:txBody>
      </p:sp>
      <p:sp>
        <p:nvSpPr>
          <p:cNvPr id="19" name="loop-review-body">
            <a:extLst xmlns:a="http://schemas.openxmlformats.org/drawingml/2006/main">
              <a:ext uri="{FF2B5EF4-FFF2-40B4-BE49-F238E27FC236}">
                <a16:creationId xmlns:a16="http://schemas.microsoft.com/office/drawing/2014/main" id="{E5DB809E-0186-4D22-9183-C44C1EE0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submissions/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2410311404-code-coach-defense.pptx</a:t>
            </a:r>
          </a:p>
        </p:txBody>
      </p:sp>
    </p:spTree>
    <p:extLst>
      <p:ext uri="{BB962C8B-B14F-4D97-AF65-F5344CB8AC3E}">
        <p14:creationId xmlns:p14="http://schemas.microsoft.com/office/powerpoint/2010/main" val="449969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8">
            <a:extLst xmlns:a="http://schemas.openxmlformats.org/drawingml/2006/main">
              <a:ext uri="{FF2B5EF4-FFF2-40B4-BE49-F238E27FC236}">
                <a16:creationId xmlns:a16="http://schemas.microsoft.com/office/drawing/2014/main" id="{AE534091-D209-48A9-BB46-235B8EA7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关键证据按阶段归档在仓库中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88E05FD1-E0BD-4DFB-9E11-CB0A90F8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3" name="loop-intro">
            <a:extLst xmlns:a="http://schemas.openxmlformats.org/drawingml/2006/main">
              <a:ext uri="{FF2B5EF4-FFF2-40B4-BE49-F238E27FC236}">
                <a16:creationId xmlns:a16="http://schemas.microsoft.com/office/drawing/2014/main" id="{06B0251B-706C-4175-AFCA-D7F459A9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复现入口 README.md；全量检查 scripts/check.sh；安全扫描 scripts/security_scan.sh。</a:t>
            </a:r>
          </a:p>
        </p:txBody>
      </p:sp>
      <p:sp>
        <p:nvSpPr>
          <p:cNvPr id="4" name="loop-tdd-surface">
            <a:extLst xmlns:a="http://schemas.openxmlformats.org/drawingml/2006/main">
              <a:ext uri="{FF2B5EF4-FFF2-40B4-BE49-F238E27FC236}">
                <a16:creationId xmlns:a16="http://schemas.microsoft.com/office/drawing/2014/main" id="{06EDAA71-4F02-48A7-A643-3170988D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op-tdd-accent">
            <a:extLst xmlns:a="http://schemas.openxmlformats.org/drawingml/2006/main">
              <a:ext uri="{FF2B5EF4-FFF2-40B4-BE49-F238E27FC236}">
                <a16:creationId xmlns:a16="http://schemas.microsoft.com/office/drawing/2014/main" id="{38BB0258-21FE-4796-9F4D-95D4997E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tdd-heading">
            <a:extLst xmlns:a="http://schemas.openxmlformats.org/drawingml/2006/main">
              <a:ext uri="{FF2B5EF4-FFF2-40B4-BE49-F238E27FC236}">
                <a16:creationId xmlns:a16="http://schemas.microsoft.com/office/drawing/2014/main" id="{410287C5-2D85-494E-B144-9ED46A6B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Gate 1</a:t>
            </a:r>
          </a:p>
        </p:txBody>
      </p:sp>
      <p:sp>
        <p:nvSpPr>
          <p:cNvPr id="7" name="loop-tdd-body">
            <a:extLst xmlns:a="http://schemas.openxmlformats.org/drawingml/2006/main">
              <a:ext uri="{FF2B5EF4-FFF2-40B4-BE49-F238E27FC236}">
                <a16:creationId xmlns:a16="http://schemas.microsoft.com/office/drawing/2014/main" id="{8B48742A-1CBB-4B96-888E-ECCBE82A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process/gate/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2410311404-code-coach-gate-1-prd-spec.md</a:t>
            </a:r>
          </a:p>
        </p:txBody>
      </p:sp>
      <p:sp>
        <p:nvSpPr>
          <p:cNvPr id="8" name="loop-http-surface">
            <a:extLst xmlns:a="http://schemas.openxmlformats.org/drawingml/2006/main">
              <a:ext uri="{FF2B5EF4-FFF2-40B4-BE49-F238E27FC236}">
                <a16:creationId xmlns:a16="http://schemas.microsoft.com/office/drawing/2014/main" id="{267E456D-761F-4D01-8905-62EA53CB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5715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oop-http-accent">
            <a:extLst xmlns:a="http://schemas.openxmlformats.org/drawingml/2006/main">
              <a:ext uri="{FF2B5EF4-FFF2-40B4-BE49-F238E27FC236}">
                <a16:creationId xmlns:a16="http://schemas.microsoft.com/office/drawing/2014/main" id="{BF940EC2-89AB-4F43-93DC-BF47CAE5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http-heading">
            <a:extLst xmlns:a="http://schemas.openxmlformats.org/drawingml/2006/main">
              <a:ext uri="{FF2B5EF4-FFF2-40B4-BE49-F238E27FC236}">
                <a16:creationId xmlns:a16="http://schemas.microsoft.com/office/drawing/2014/main" id="{E397C245-F3CE-4618-8631-CA51C7ED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Gate 2</a:t>
            </a:r>
          </a:p>
        </p:txBody>
      </p:sp>
      <p:sp>
        <p:nvSpPr>
          <p:cNvPr id="11" name="loop-http-body">
            <a:extLst xmlns:a="http://schemas.openxmlformats.org/drawingml/2006/main">
              <a:ext uri="{FF2B5EF4-FFF2-40B4-BE49-F238E27FC236}">
                <a16:creationId xmlns:a16="http://schemas.microsoft.com/office/drawing/2014/main" id="{B06D5BC8-7E7C-4AF5-B739-ACC8D57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process/gate/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2410311404-code-coach-gate-2-design.md</a:t>
            </a:r>
          </a:p>
        </p:txBody>
      </p:sp>
      <p:sp>
        <p:nvSpPr>
          <p:cNvPr id="12" name="loop-security-surface">
            <a:extLst xmlns:a="http://schemas.openxmlformats.org/drawingml/2006/main">
              <a:ext uri="{FF2B5EF4-FFF2-40B4-BE49-F238E27FC236}">
                <a16:creationId xmlns:a16="http://schemas.microsoft.com/office/drawing/2014/main" id="{DA27AB5F-B022-44FE-B250-76922E2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security-accent">
            <a:extLst xmlns:a="http://schemas.openxmlformats.org/drawingml/2006/main">
              <a:ext uri="{FF2B5EF4-FFF2-40B4-BE49-F238E27FC236}">
                <a16:creationId xmlns:a16="http://schemas.microsoft.com/office/drawing/2014/main" id="{F350356A-4570-439B-9D32-2F67E725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security-heading">
            <a:extLst xmlns:a="http://schemas.openxmlformats.org/drawingml/2006/main">
              <a:ext uri="{FF2B5EF4-FFF2-40B4-BE49-F238E27FC236}">
                <a16:creationId xmlns:a16="http://schemas.microsoft.com/office/drawing/2014/main" id="{29803F65-68AB-4C21-9A60-76975DB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W3 红绿实现</a:t>
            </a:r>
          </a:p>
        </p:txBody>
      </p:sp>
      <p:sp>
        <p:nvSpPr>
          <p:cNvPr id="15" name="loop-security-body">
            <a:extLst xmlns:a="http://schemas.openxmlformats.org/drawingml/2006/main">
              <a:ext uri="{FF2B5EF4-FFF2-40B4-BE49-F238E27FC236}">
                <a16:creationId xmlns:a16="http://schemas.microsoft.com/office/drawing/2014/main" id="{DBECE03E-1A2D-4EDA-ABD6-C3C51863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evidence/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2410311404-code-coach-w3-red-green.md</a:t>
            </a:r>
          </a:p>
        </p:txBody>
      </p:sp>
      <p:sp>
        <p:nvSpPr>
          <p:cNvPr id="16" name="loop-review-surface">
            <a:extLst xmlns:a="http://schemas.openxmlformats.org/drawingml/2006/main">
              <a:ext uri="{FF2B5EF4-FFF2-40B4-BE49-F238E27FC236}">
                <a16:creationId xmlns:a16="http://schemas.microsoft.com/office/drawing/2014/main" id="{1A40C236-1822-4E0C-86B3-018649D4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5715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review-accent">
            <a:extLst xmlns:a="http://schemas.openxmlformats.org/drawingml/2006/main">
              <a:ext uri="{FF2B5EF4-FFF2-40B4-BE49-F238E27FC236}">
                <a16:creationId xmlns:a16="http://schemas.microsoft.com/office/drawing/2014/main" id="{BF36947D-C73F-40E3-8EB7-2839113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review-heading">
            <a:extLst xmlns:a="http://schemas.openxmlformats.org/drawingml/2006/main">
              <a:ext uri="{FF2B5EF4-FFF2-40B4-BE49-F238E27FC236}">
                <a16:creationId xmlns:a16="http://schemas.microsoft.com/office/drawing/2014/main" id="{1F8F0C3E-2A76-49CB-976E-E68D65DC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W3 独立复审</a:t>
            </a:r>
          </a:p>
        </p:txBody>
      </p:sp>
      <p:sp>
        <p:nvSpPr>
          <p:cNvPr id="19" name="loop-review-body">
            <a:extLst xmlns:a="http://schemas.openxmlformats.org/drawingml/2006/main">
              <a:ext uri="{FF2B5EF4-FFF2-40B4-BE49-F238E27FC236}">
                <a16:creationId xmlns:a16="http://schemas.microsoft.com/office/drawing/2014/main" id="{E5DB809E-0186-4D22-9183-C44C1EE0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evidence/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2410311404-code-coach-w3-implementation-review.md</a:t>
            </a:r>
          </a:p>
        </p:txBody>
      </p:sp>
    </p:spTree>
    <p:extLst>
      <p:ext uri="{BB962C8B-B14F-4D97-AF65-F5344CB8AC3E}">
        <p14:creationId xmlns:p14="http://schemas.microsoft.com/office/powerpoint/2010/main" val="4499692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B013D9C0-29F1-48C6-91FA-3198F19E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3D8DFF"/>
                </a:solidFill>
                <a:latin typeface="微软雅黑"/>
                <a:ea typeface="微软雅黑"/>
                <a:cs typeface="微软雅黑"/>
              </a:rPr>
              <a:t>code_coach · Gate 3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021FA88-01EC-4BFD-8C91-D851DB50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847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5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AI 解释可降级，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51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学习证据可复现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E524C083-3654-40B8-90EC-19203157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F6772"/>
                </a:solidFill>
                <a:latin typeface="微软雅黑"/>
                <a:ea typeface="微软雅黑"/>
                <a:cs typeface="微软雅黑"/>
              </a:rPr>
              <a:t>确定性诊断负责事实 · AI 教练负责迁移理解 · 修改比较负责验证学习结果</a:t>
            </a:r>
          </a:p>
        </p:txBody>
      </p:sp>
      <p:sp>
        <p:nvSpPr>
          <p:cNvPr id="4" name="close-line">
            <a:extLst xmlns:a="http://schemas.openxmlformats.org/drawingml/2006/main">
              <a:ext uri="{FF2B5EF4-FFF2-40B4-BE49-F238E27FC236}">
                <a16:creationId xmlns:a16="http://schemas.microsoft.com/office/drawing/2014/main" id="{EEFBFD7C-5F39-494C-AC88-13B66E03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qa">
            <a:extLst xmlns:a="http://schemas.openxmlformats.org/drawingml/2006/main">
              <a:ext uri="{FF2B5EF4-FFF2-40B4-BE49-F238E27FC236}">
                <a16:creationId xmlns:a16="http://schemas.microsoft.com/office/drawing/2014/main" id="{7740BD3B-12FA-4C8E-94A4-3A60EE9A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演示与答疑</a:t>
            </a:r>
          </a:p>
        </p:txBody>
      </p:sp>
    </p:spTree>
    <p:extLst>
      <p:ext uri="{BB962C8B-B14F-4D97-AF65-F5344CB8AC3E}">
        <p14:creationId xmlns:p14="http://schemas.microsoft.com/office/powerpoint/2010/main" val="1045949327"/>
      </p:ext>
    </p:extLst>
  </p:cSld>
</p:sld>
</file>

<file path=ppt/theme/theme1.xml><?xml version="1.0" encoding="utf-8"?>
<a:theme xmlns:a="http://schemas.openxmlformats.org/drawingml/2006/main" name="code_coach">
  <a:themeElements>
    <a:clrScheme name="code_coach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_coa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2026-07-28T08:14:15.3680000Z</dcterms:created>
  <dcterms:modified xsi:type="dcterms:W3CDTF">2026-07-28T08:14:15.3680000Z</dcterms:modified>
</coreProperties>
</file>